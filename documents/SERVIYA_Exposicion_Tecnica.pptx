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Presentador: quien abra la exposición. Leer rápido la agenda (20-25s) y pasar el turno a Ana Sofía.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Sofía (0:00-0:50 de su bloque). Explicar el problema real, el modelo de negocio (on-demand) y dejar claro que SERVIYA es intermediario, no proveedor directo.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Sofía. Repasar los 4 actores en 15s cada uno y cerrar con las cifras de alcance del backlog (82 RF, 74 HU, 25 RNF) tomadas del documento de caracterización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Sofía. Cerrar el bloque de introducción mencionando que estos RNF (RNF-001 a RNF-025 del backlog) guiaron decisiones técnicas concretas que se verán en los siguientes bloques (cifrado, arquitectura, tests). Pasar el turno a Alejandro.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Alejandro. Mostrar el diagrama de anillos: dominio en el centro (sin dependencias externas), la capa de aplicación con los puertos, y la infraestructura con los adaptadores reales. Mencionar que esto viene directamente del código, no es solo teoría.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Alejandro. Recorrer las 3 columnas rápido (15-20s cada una). Aclarar que usan Leaflet/OpenStreetMap en vez de Google Maps para la geolocalización, cumpliendo igual el requisito de integración con API geoespacial externa.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Alejandro. Explicar el monorepo y por qué separaron compose de producción y de desarrollo (hot-reload con volúmenes montados). Cerrar y pasar el turno a Fabián para el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Fabián. Usar el módulo de reportes como ejemplo concreto y mostrar (si hay tiempo/demo de código) las carpetas reales del repo. Enfatizar que domain no depende de Spring ni de JPA.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Fabián. Este slide cubre el punto 3 y 4 de la rúbrica (tecnologías + cómo se configuró la seguridad/BD). Detenerse un poco más en AES-256-GCM porque conecta directo con el siguiente slide de patrones (PiiAttributeConverter es un Adapter).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Fabián. Este es el slide clave del punto 5 de la rúbrica (mínimo 2 patrones) — aquí hay 3, con nombres de clases reales del repo. Señalar en el código (si hay laptop a mano) SpringDomainEventPublisherAdapter y algún listener de métricas.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David. Mostrar el paralelismo con la arquitectura hexagonal del backend: mismos 9 dominios, ahora como módulos de UI. Esto facilita que cada integrante trabajara su HU de punta a punta.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David. Destacar que usaron Leaflet/OpenStreetMap (gratuito) en vez de Google Maps para cumplir el requisito de integración geoespacial (RNF-019) sin costos de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David. Cerrar el bloque de frontend explicando cómo se conecta con el backend (JWT + Swagger como contrato) y pasar el turno a Juan José para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José. Anunciar el flujo antes de saltar a la demo en vivo (navegador/Postman/Swagger). No detenerse mucho en el slide: es solo el mapa de lo que se va a mostrar en vivo (2 min de demo real).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José. Mostrar (si el jurado lo pide) el repositorio real en pantalla. Confirmar en voz alta que ya se envió la invitación de acceso a la profesora, según el requisito 2 de la rúbrica.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Juan José. Cerrar con aprendizajes reales del equipo, no solo logros técnicos. Dejar la última viñeta como gancho para preguntas del jurado sobre escalabilidad.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equipo de pie para preguntas finales del jurado.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SERVIYA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Técnica — Marketplace de Servicios On-Demand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4114800"/>
            <a:ext cx="2011680" cy="0"/>
          </a:xfrm>
          <a:prstGeom prst="line">
            <a:avLst/>
          </a:prstGeom>
          <a:noFill/>
          <a:ln w="38100">
            <a:solidFill>
              <a:srgbClr val="00B4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II · Universidad Nacional de Colombia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Ortiz Cortés   ·   Ana Sofía Rodríguez Neira   ·   Fabián Rozo Rodríguez   ·   Juan David Beltrán Orjuela   ·   Juan José Sánchez Mora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 julio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20 minutos, 5 integrantes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36192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cierra con espacio implícito para preguntas puntuales del jurado.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1899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y contexto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49631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Sofía Rodríguez Neira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241280" y="2244852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0" y="22448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0769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769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05409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tecnologías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38328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Ortiz Cortés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41280" y="3131820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0" y="31318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31336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9639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639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94106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en profundidad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27024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Fabián Rozo Rodríguez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241280" y="4018788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0" y="40187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718304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48508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8508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515721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Beltrán Orjuela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41280" y="4905756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0" y="49057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605272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5800" y="573786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7378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17320" y="57150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en vivo y cierre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17320" y="604418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José Sánchez Mora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241280" y="5792724"/>
            <a:ext cx="1280160" cy="402336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10241280" y="579272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Sofía Rodríguez Neira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SERVIYA?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encontrar y contratar servicios independientes (hogar, técnicos, profesionales) suele ser informal, sin reputación verificable ni trazabilidad.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un marketplace bilateral que conecta clientes y proveedores — descubrimiento, contratación, agendamiento, seguimiento y evaluación mutua.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on-demand: el proveedor publica precio por hora, categoría, fotos, duración promedio, radio de cobertura y disponibilidad; el cliente solicita en una dirección y horario concretos.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es el intermediario digital: no presta el servicio, gestiona la relación de confianza entre las partes.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60920" y="1965960"/>
            <a:ext cx="4370832" cy="4023360"/>
          </a:xfrm>
          <a:prstGeom prst="roundRect">
            <a:avLst>
              <a:gd name="adj" fmla="val 2727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bilateral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0" y="2788920"/>
            <a:ext cx="1554480" cy="15544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306872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26680" y="3690518"/>
            <a:ext cx="18288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lados 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2788920"/>
            <a:ext cx="1554480" cy="15544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38360" y="306872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601200" y="3690518"/>
            <a:ext cx="18288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35240" y="4709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 ⇄  Proveedor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moderados por un Administrador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Sofía Rodríguez Neira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Actores del sistema y alcance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70048" cy="2331720"/>
          </a:xfrm>
          <a:prstGeom prst="roundRect">
            <a:avLst>
              <a:gd name="adj" fmla="val 470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72184" y="226771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472184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303580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Visitante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sin cuenta: home, buscador, perfiles y servicios públicos.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2011680"/>
            <a:ext cx="2670048" cy="2331720"/>
          </a:xfrm>
          <a:prstGeom prst="roundRect">
            <a:avLst>
              <a:gd name="adj" fmla="val 470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9392" y="226771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279392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1568" y="303580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47288" y="338328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solicita, agenda, cancela/reprograma y califica servicios.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1616" y="2011680"/>
            <a:ext cx="2670048" cy="2331720"/>
          </a:xfrm>
          <a:prstGeom prst="roundRect">
            <a:avLst>
              <a:gd name="adj" fmla="val 470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86600" y="226771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08776" y="303580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54496" y="338328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servicios, gestiona disponibilidad, acepta/rechaza y califica clientes.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78824" y="2011680"/>
            <a:ext cx="2670048" cy="2331720"/>
          </a:xfrm>
          <a:prstGeom prst="roundRect">
            <a:avLst>
              <a:gd name="adj" fmla="val 4706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93808" y="22677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893808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15984" y="303580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1704" y="338328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usuarios y roles, modera reportes y reseñas, banea/desbanea.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6177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0B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72744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1828800" y="461772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270248" y="46177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0B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472744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5641848" y="461772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83296" y="4617720"/>
            <a:ext cx="3566160" cy="1051560"/>
          </a:xfrm>
          <a:prstGeom prst="roundRect">
            <a:avLst>
              <a:gd name="adj" fmla="val 10435"/>
            </a:avLst>
          </a:prstGeom>
          <a:solidFill>
            <a:srgbClr val="0B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311896" y="472744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9454896" y="461772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Sofía Rodríguez Neira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calidad (requisitos no funcionales)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488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1305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62432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para contraseñas</a:t>
            </a:r>
            <a:endParaRPr lang="en-US" sz="108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AES-256-GCM de PII</a:t>
            </a:r>
            <a:endParaRPr lang="en-US" sz="108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 (RBAC)</a:t>
            </a:r>
            <a:endParaRPr lang="en-US" sz="108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palabras en texto libre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245352" y="196596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1488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76872" y="21305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9672" y="2624328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&lt; 1s en condiciones normales</a:t>
            </a:r>
            <a:endParaRPr lang="en-US" sz="108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con filtros &lt; 2s</a:t>
            </a:r>
            <a:endParaRPr lang="en-US" sz="108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usuarios concurrentes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42245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206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Disponibilidad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4700016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 de disponibilidad</a:t>
            </a:r>
            <a:endParaRPr lang="en-US" sz="108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horizontal</a:t>
            </a:r>
            <a:endParaRPr lang="en-US" sz="108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progresivo de BD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245352" y="4041648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2245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76872" y="4206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Usabilidad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19672" y="4700016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intuitiva, sin curva de aprendizaje</a:t>
            </a:r>
            <a:endParaRPr lang="en-US" sz="108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(móvil y escritorio)</a:t>
            </a:r>
            <a:endParaRPr lang="en-US" sz="1080" dirty="0"/>
          </a:p>
          <a:p>
            <a:pPr marL="177800" indent="-177800"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Edge y Safari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Ortiz Cortés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hexagonal (Ports &amp; Adapters)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60120" y="1828800"/>
            <a:ext cx="4663440" cy="3931920"/>
          </a:xfrm>
          <a:prstGeom prst="ellipse">
            <a:avLst/>
          </a:prstGeom>
          <a:solidFill>
            <a:srgbClr val="F2F6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2423160"/>
            <a:ext cx="3200400" cy="2743200"/>
          </a:xfrm>
          <a:prstGeom prst="ellipse">
            <a:avLst/>
          </a:prstGeom>
          <a:solidFill>
            <a:srgbClr val="DCEEF2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3017520"/>
            <a:ext cx="1828800" cy="1554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4963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(ports in/out + services)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(adapters)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5394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 ·  JPA/MySQL  ·  Eventos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3796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módulo repite el mismo esqueleto: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37960" y="24231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→ entidades y reglas de negocio puras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→ ports (in/out), DTOs command/result, services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→ controllers, adapters, entidades JPA, mappers, repositories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3703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módulos (bounded contexts):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4114800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1148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88936" y="4114800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488936" y="41148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14232" y="4114800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714232" y="41148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939528" y="4114800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939528" y="41148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4572000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5720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63256" y="457200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763256" y="4572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897112" y="457200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897112" y="45720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030968" y="457200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10030968" y="45720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37960" y="5029200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50292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Ortiz Cortés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11880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3611880" cy="3529584"/>
          </a:xfrm>
          <a:prstGeom prst="roundRect">
            <a:avLst>
              <a:gd name="adj" fmla="val 3109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862072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(Web, Data JPA, Security, Validation)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(io.jsonwebtoken)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MapStruct + Lombok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springdoc-openapi (Swagger)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1965960"/>
            <a:ext cx="3611880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288536" y="19659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88536" y="2642616"/>
            <a:ext cx="3611880" cy="3529584"/>
          </a:xfrm>
          <a:prstGeom prst="roundRect">
            <a:avLst>
              <a:gd name="adj" fmla="val 3109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17136" y="2862072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v7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react-leaflet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965960"/>
            <a:ext cx="3611880" cy="566928"/>
          </a:xfrm>
          <a:prstGeom prst="roundRect">
            <a:avLst>
              <a:gd name="adj" fmla="val 16129"/>
            </a:avLst>
          </a:prstGeom>
          <a:solidFill>
            <a:srgbClr val="3E7C8C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9659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19872" y="2642616"/>
            <a:ext cx="3611880" cy="3529584"/>
          </a:xfrm>
          <a:prstGeom prst="roundRect">
            <a:avLst>
              <a:gd name="adj" fmla="val 3109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48472" y="2862072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Contenedores: backend, MySQL, frontend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(.env)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 entre servicios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1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dev con hot-reload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Ortiz Cortés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repositorio y despliegue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Monorepo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6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/backend/serviya   → API Spring Boot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6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/frontend/serviya  → SPA React + Vite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6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/mysql             → scripts 01–10 (init + seed)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6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     → build de producción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6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docker-compose.dev.yml → hot-reload en desarrollo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62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→ credenciales, JWT_SECRET, ENCRYPTION_KEY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1965960"/>
            <a:ext cx="5925312" cy="4160520"/>
          </a:xfrm>
          <a:prstGeom prst="roundRect">
            <a:avLst>
              <a:gd name="adj" fmla="val 2637"/>
            </a:avLst>
          </a:prstGeom>
          <a:solidFill>
            <a:srgbClr val="0B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Contenedores Docker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80760" y="27432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852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09360" y="3218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8081 / 5173 (dev)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3657600"/>
            <a:ext cx="0" cy="22860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38862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995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4361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8080 · depende de MySQL healthy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4800600"/>
            <a:ext cx="0" cy="228600"/>
          </a:xfrm>
          <a:prstGeom prst="line">
            <a:avLst/>
          </a:prstGeom>
          <a:noFill/>
          <a:ln w="25400">
            <a:solidFill>
              <a:srgbClr val="00B4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50292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5138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09360" y="5504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3307→3306 · utf8mb4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Fabián Rozo Rodríguez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Backend: capas por módulo (ejemplo real)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reports/ 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774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20440" y="2377440"/>
            <a:ext cx="8211312" cy="960120"/>
          </a:xfrm>
          <a:prstGeom prst="roundRect">
            <a:avLst>
              <a:gd name="adj" fmla="val 11429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23774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ReportAction — reglas de negocio puras, sin frameworks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747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20440" y="3474720"/>
            <a:ext cx="8211312" cy="960120"/>
          </a:xfrm>
          <a:prstGeom prst="roundRect">
            <a:avLst>
              <a:gd name="adj" fmla="val 11429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34747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ports/input, ports/output, dto/command, dto/result, services/ReportCommandService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3E7C8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720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infrastructure/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20440" y="4572000"/>
            <a:ext cx="8211312" cy="960120"/>
          </a:xfrm>
          <a:prstGeom prst="roundRect">
            <a:avLst>
              <a:gd name="adj" fmla="val 11429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45720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adapters/input/api (controller REST), adapters/output, entities, mappers, repositories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mismo esqueleto se repite en los 9 módulos: users, profiles, services, requests, feedback, metrics, reports, notifications, admin.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Fabián Rozo Rodríguez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protección de datos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53412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534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77440" y="19659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+ JwtService — autenticación stateless en cada request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022092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220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77440" y="28346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 (RBAC): CLIENT, OFFERER, ADMIN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890772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907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77440" y="37033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contraseñas — nunca se almacena texto plano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759452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00B4A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594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77440" y="45720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PiiAttributeConverter cifra/descifra documento y teléfono de forma transparente al guardar en MySQL (columna VARBINARY)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name="adj" fmla="val 1411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5628132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6281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filter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377440" y="54406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WordFilterPort censura texto libre (descripciones, reseñas, motivos de reporte) antes de persistir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Fabián Rozo Rodríguez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diseño implementados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57600" cy="4160520"/>
          </a:xfrm>
          <a:prstGeom prst="roundRect">
            <a:avLst>
              <a:gd name="adj" fmla="val 30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Adapters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2971800"/>
            <a:ext cx="31546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WordFilterPort → ConfigurableWordFilterAdapter</a:t>
            </a:r>
            <a:endParaRPr lang="en-US" sz="103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PiiAttributeConverter: AttributeConverter de JPA que cifra/descifra AES-256-GCM de forma transparente para el dominio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261104" y="1965960"/>
            <a:ext cx="3657600" cy="4160520"/>
          </a:xfrm>
          <a:prstGeom prst="roundRect">
            <a:avLst>
              <a:gd name="adj" fmla="val 30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9704" y="2194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489704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9784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9784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dominio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17136" y="2971800"/>
            <a:ext cx="31546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DomainEventPublisherPort → SpringDomainEventPublisherAdapter</a:t>
            </a:r>
            <a:endParaRPr lang="en-US" sz="103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RoleAssignedEvent, RequestStatusChangedEvent... escuchados por @TransactionalEventListener (ej. OffererMetricsEventListener) que actualizan métricas tras el commit, desacoplados del caso de uso original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065008" y="1965960"/>
            <a:ext cx="3657600" cy="4160520"/>
          </a:xfrm>
          <a:prstGeom prst="roundRect">
            <a:avLst>
              <a:gd name="adj" fmla="val 30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93608" y="2194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29360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33688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33688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entidades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21040" y="2971800"/>
            <a:ext cx="31546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@Builder en 34 clases de dominio (ClientFeedback, ServiceMetrics, OffererMetrics...)</a:t>
            </a:r>
            <a:endParaRPr lang="en-US" sz="103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inmutables y legibles sin constructores telescópicos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Beltrán Orjuela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Frontend: React + arquitectura modular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src/modules/ — un módulo por dominio, espejo del backend: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45336" y="2423160"/>
            <a:ext cx="1261872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545336" y="24231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35224" y="2423160"/>
            <a:ext cx="1261872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935224" y="24231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5112" y="2423160"/>
            <a:ext cx="1261872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325112" y="24231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2423160"/>
            <a:ext cx="1261872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24231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04888" y="2423160"/>
            <a:ext cx="1161288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104888" y="242316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94192" y="2423160"/>
            <a:ext cx="1161288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394192" y="2423160"/>
            <a:ext cx="116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83496" y="2423160"/>
            <a:ext cx="1764792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9683496" y="2423160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96012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260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módulo trae: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1520" y="42976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 → componentes .jsx con su .css colocado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users/pages/LoginPage, RegisterPage, RecoverPasswordPage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749040"/>
            <a:ext cx="5696712" cy="2377440"/>
          </a:xfrm>
          <a:prstGeom prst="roundRect">
            <a:avLst>
              <a:gd name="adj" fmla="val 4615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compartido: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09360" y="42976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shared/components → UI reutilizable entre módulos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shared/hooks → lógica reutilizable (ej. useToast)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app/routes.jsx → mapa central de navegación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Beltrán Orjuela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Enrutamiento, formularios y mapas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1274552" cy="1234440"/>
          </a:xfrm>
          <a:prstGeom prst="roundRect">
            <a:avLst>
              <a:gd name="adj" fmla="val 8889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37286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28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15798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 DOM v7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17320" y="252374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app/routes.jsx define de forma declarativa las rutas por rol (públicas, cliente, proveedor, admin)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74552" cy="1234440"/>
          </a:xfrm>
          <a:prstGeom prst="roundRect">
            <a:avLst>
              <a:gd name="adj" fmla="val 8889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7901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901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7530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Hook Form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17320" y="394106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formularios de registro, edición de perfil y solicitud de servicios, con feedback inmediato al usuario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11274552" cy="1234440"/>
          </a:xfrm>
          <a:prstGeom prst="roundRect">
            <a:avLst>
              <a:gd name="adj" fmla="val 8889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520750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2075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9926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Leaflet + react-leaflet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417320" y="535838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interactivos sobre OpenStreetMap: selección de dirección, visualización del radio de cobertura del proveedor y filtrado por proximidad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Beltrán Orjuela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frontend ↔ backend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VITE_API_URL define la URL del backend en build/runtime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Docker: el frontend se compila con Vite apuntando al backend del contenedor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desarrollo: Vite dev server en :5173 con hot-reload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5696712" cy="4069080"/>
          </a:xfrm>
          <a:prstGeom prst="roundRect">
            <a:avLst>
              <a:gd name="adj" fmla="val 2697"/>
            </a:avLst>
          </a:prstGeom>
          <a:solidFill>
            <a:srgbClr val="0B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con la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69748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emitido en login/registro, guardado en el cliente y enviado en el header Authorization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springdoc-openapi (Swagger) — contrato compartido entre equipos de front y back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Peticiones organizadas por módulo, igual que las carpetas del backend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José Sánchez Mora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que vamos a demostrar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884426" y="3017520"/>
            <a:ext cx="102565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61466" y="26060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061466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17571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/ inicio de sesión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3733038" y="3017520"/>
            <a:ext cx="102565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910078" y="26060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2910078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42972" y="3566160"/>
            <a:ext cx="17571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y buscar un servicio (filtros)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581650" y="3017520"/>
            <a:ext cx="102565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758690" y="26060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75869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91584" y="3566160"/>
            <a:ext cx="17571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perfil público del proveedor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7430262" y="3017520"/>
            <a:ext cx="102565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607302" y="26060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607302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40196" y="3566160"/>
            <a:ext cx="17571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el servicio (dirección, fecha, hora)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9278874" y="3017520"/>
            <a:ext cx="102565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455914" y="26060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8455914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988808" y="3566160"/>
            <a:ext cx="17571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acepta la solicitud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10304526" y="26060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10304526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837420" y="3566160"/>
            <a:ext cx="17571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y calificación mutua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 datos reales sobre la base de datos MySQL dockerizada del proyecto.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José Sánchez Mora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y cómo ejecutar el proyecto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fuente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 con historial de commits del equipo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enviada a la docente como colaboradora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backend/, frontend/, mysql/, documents/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5696712" cy="4069080"/>
          </a:xfrm>
          <a:prstGeom prst="roundRect">
            <a:avLst>
              <a:gd name="adj" fmla="val 2697"/>
            </a:avLst>
          </a:prstGeom>
          <a:solidFill>
            <a:srgbClr val="0B1E3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Puesta en marcha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697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E7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42519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backend (8080), MySQL (3307) y frontend (8081) en un solo comando. docker-compose.dev.yml habilita hot-reload para desarrollo.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1148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José Sánchez Mora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1064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hexagonal por módulo permitió que cada integrante trabajara historias de usuario de punta a punta sin pisarse el código.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dominio de infraestructura facilitó las pruebas unitarias y aisló las reglas de negocio de Spring/JPA.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patrones de diseño no fueron un requisito académico aislado: resolvieron problemas reales del proyecto (desacoplar el cálculo de métricas, cifrar PII de forma transparente).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Dockerizar backend, base de datos y frontend desde el día 1 evitó el clásico "en mi máquina sí funciona".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16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como trabajo futuro: notificaciones push nativas, y mover el cálculo de métricas a un job asíncrono si el volumen de datos crece.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SERVIYA — Exposición Técnica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1148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 — SERVIYA, Ingeniería de Software II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Ortiz Cortés   ·   Ana Sofía Rodríguez Neira   ·   Fabián Rozo Rodríguez   ·   Juan David Beltrán Orjuela   ·   Juan José Sánchez Mora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2026-07-14T01:53:13Z</dcterms:created>
  <dcterms:modified xsi:type="dcterms:W3CDTF">2026-07-14T01:53:13Z</dcterms:modified>
</cp:coreProperties>
</file>